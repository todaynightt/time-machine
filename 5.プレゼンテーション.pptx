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8" r:id="rId6"/>
    <p:sldId id="257" r:id="rId7"/>
    <p:sldId id="259" r:id="rId8"/>
    <p:sldId id="262" r:id="rId9"/>
    <p:sldId id="260" r:id="rId10"/>
    <p:sldId id="264" r:id="rId11"/>
    <p:sldId id="265" r:id="rId12"/>
    <p:sldId id="266" r:id="rId13"/>
    <p:sldId id="261" r:id="rId14"/>
    <p:sldId id="263" r:id="rId15"/>
    <p:sldId id="267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0704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1/24/2023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nthisday.com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wikimedia.org/wiki/API_reference/Feed/On_this_day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7441" y="2751364"/>
            <a:ext cx="5775959" cy="1122202"/>
          </a:xfrm>
        </p:spPr>
        <p:txBody>
          <a:bodyPr/>
          <a:lstStyle/>
          <a:p>
            <a:pPr algn="ctr"/>
            <a:r>
              <a:rPr lang="en-US" sz="6000" b="1" u="sng" dirty="0"/>
              <a:t>Time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0342" y="3816416"/>
            <a:ext cx="4941770" cy="1743463"/>
          </a:xfrm>
        </p:spPr>
        <p:txBody>
          <a:bodyPr>
            <a:normAutofit/>
          </a:bodyPr>
          <a:lstStyle/>
          <a:p>
            <a:pPr algn="ctr"/>
            <a:r>
              <a:rPr lang="ja-JP" altLang="en-US" sz="1800" dirty="0">
                <a:latin typeface="HGS明朝B" panose="02020800000000000000" pitchFamily="18" charset="-128"/>
                <a:ea typeface="HGS明朝B" panose="02020800000000000000" pitchFamily="18" charset="-128"/>
              </a:rPr>
              <a:t>プログラミングコンテスト</a:t>
            </a:r>
            <a:endParaRPr lang="en-US" altLang="ja-JP" sz="18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algn="ctr"/>
            <a:endParaRPr lang="en-US" altLang="ja-JP" sz="18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algn="ctr"/>
            <a:r>
              <a:rPr lang="ja-JP" altLang="en-US" sz="1800" dirty="0">
                <a:latin typeface="HGS明朝B" panose="02020800000000000000" pitchFamily="18" charset="-128"/>
                <a:ea typeface="HGS明朝B" panose="02020800000000000000" pitchFamily="18" charset="-128"/>
              </a:rPr>
              <a:t>情報電子工学科</a:t>
            </a:r>
            <a:r>
              <a:rPr lang="en-US" altLang="ja-JP" sz="1800" dirty="0">
                <a:latin typeface="HGS明朝B" panose="02020800000000000000" pitchFamily="18" charset="-128"/>
                <a:ea typeface="HGS明朝B" panose="02020800000000000000" pitchFamily="18" charset="-128"/>
              </a:rPr>
              <a:t>1</a:t>
            </a:r>
            <a:r>
              <a:rPr lang="ja-JP" altLang="en-US" sz="1800" dirty="0">
                <a:latin typeface="HGS明朝B" panose="02020800000000000000" pitchFamily="18" charset="-128"/>
                <a:ea typeface="HGS明朝B" panose="02020800000000000000" pitchFamily="18" charset="-128"/>
              </a:rPr>
              <a:t>年　ティオ　シーディエン</a:t>
            </a:r>
            <a:endParaRPr lang="en-US" altLang="ja-JP" sz="18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3DC25-723C-0934-BA4A-377C851B2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075647"/>
            <a:ext cx="5111750" cy="1204912"/>
          </a:xfrm>
        </p:spPr>
        <p:txBody>
          <a:bodyPr>
            <a:normAutofit/>
          </a:bodyPr>
          <a:lstStyle/>
          <a:p>
            <a:r>
              <a:rPr lang="ja-JP" altLang="en-US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最初のアイデア</a:t>
            </a:r>
            <a:endParaRPr lang="en-US" sz="4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83FE8-8A37-2574-729D-D7C069DDD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2455410"/>
            <a:ext cx="5111749" cy="36004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日付を記入して、その日のあり事を知らせるプログラム</a:t>
            </a:r>
            <a:endParaRPr lang="en-US" altLang="ja-JP" sz="18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その日でまだ生れていない人に何のことがあるかを伝える、または知っている人の思い出になるプログラム</a:t>
            </a:r>
            <a:endParaRPr lang="en-US" altLang="ja-JP" sz="18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+mn-ea"/>
              </a:rPr>
              <a:t>Google</a:t>
            </a: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で</a:t>
            </a:r>
            <a:r>
              <a:rPr lang="en-US" altLang="ja-JP" sz="1800" dirty="0">
                <a:latin typeface="+mn-ea"/>
              </a:rPr>
              <a:t>On This Day </a:t>
            </a: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のウェブサイトの機能を真似する</a:t>
            </a:r>
            <a:endParaRPr lang="en-US" altLang="ja-JP" sz="18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lvl="1">
              <a:lnSpc>
                <a:spcPct val="150000"/>
              </a:lnSpc>
            </a:pPr>
            <a:r>
              <a:rPr lang="en-US" sz="1700" dirty="0">
                <a:hlinkClick r:id="rId2"/>
              </a:rPr>
              <a:t>https://www.onthisday.com/</a:t>
            </a:r>
            <a:endParaRPr lang="en-US" sz="17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dirty="0"/>
              <a:t>On This Day </a:t>
            </a: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ウェブサイトをアクセスして、データを出す</a:t>
            </a:r>
            <a:endParaRPr lang="en-US" sz="11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CCEA5-6E98-7DB4-5704-25252869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6364035F-2023-BD36-DA67-0AF96EEB4563}"/>
              </a:ext>
            </a:extLst>
          </p:cNvPr>
          <p:cNvSpPr/>
          <p:nvPr/>
        </p:nvSpPr>
        <p:spPr>
          <a:xfrm>
            <a:off x="9805307" y="3429000"/>
            <a:ext cx="963386" cy="514350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日付</a:t>
            </a:r>
            <a:endParaRPr lang="en-US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EF975A06-A25B-0B9C-73C2-1C1D23787080}"/>
              </a:ext>
            </a:extLst>
          </p:cNvPr>
          <p:cNvSpPr/>
          <p:nvPr/>
        </p:nvSpPr>
        <p:spPr>
          <a:xfrm>
            <a:off x="8886825" y="4408716"/>
            <a:ext cx="2800349" cy="514350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https://onthisday.com/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DBB06F-D3F4-D2E9-4BF1-AA5123782E6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0287000" y="3943350"/>
            <a:ext cx="0" cy="465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846829BF-D284-7764-6C81-304CDFE8A655}"/>
              </a:ext>
            </a:extLst>
          </p:cNvPr>
          <p:cNvSpPr/>
          <p:nvPr/>
        </p:nvSpPr>
        <p:spPr>
          <a:xfrm>
            <a:off x="9805307" y="5368018"/>
            <a:ext cx="963386" cy="514350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アプリ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3462E6-7041-21A7-95EC-8459DF9AB639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10287000" y="4923066"/>
            <a:ext cx="0" cy="444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49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A7DB-7472-3E61-50CA-8C5E5A8A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889907"/>
            <a:ext cx="5111750" cy="1204912"/>
          </a:xfrm>
        </p:spPr>
        <p:txBody>
          <a:bodyPr>
            <a:normAutofit/>
          </a:bodyPr>
          <a:lstStyle/>
          <a:p>
            <a:r>
              <a:rPr lang="ja-JP" altLang="en-US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目的</a:t>
            </a:r>
            <a:endParaRPr lang="en-US" sz="4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60058-A5D6-D544-3C04-7C626B798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2204358"/>
            <a:ext cx="5111750" cy="28575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9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API</a:t>
            </a:r>
            <a:r>
              <a:rPr lang="ja-JP" altLang="en-US" sz="19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をアクセスして、データを処理する</a:t>
            </a:r>
            <a:endParaRPr lang="en-US" altLang="ja-JP" sz="19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9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GUI</a:t>
            </a:r>
            <a:r>
              <a:rPr lang="ja-JP" altLang="en-US" sz="19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を作成する</a:t>
            </a:r>
            <a:endParaRPr lang="en-US" altLang="ja-JP" sz="19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日付を記入できる欄を作成する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Submit </a:t>
            </a: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のボタンを押すと、日付を表示ところは時間が過去に流れているように動作する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検索歴が見えるようにする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検索結果を一つずつ表示するではなく、複数の結果が見えるようにする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F0F3-DB02-004A-256A-395AD5CF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42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583C-BCA9-1691-889A-5ED93A6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903" y="969169"/>
            <a:ext cx="5111750" cy="1204912"/>
          </a:xfrm>
        </p:spPr>
        <p:txBody>
          <a:bodyPr>
            <a:normAutofit/>
          </a:bodyPr>
          <a:lstStyle/>
          <a:p>
            <a:r>
              <a:rPr lang="ja-JP" altLang="en-US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プログラムの概要</a:t>
            </a:r>
            <a:endParaRPr lang="en-US" sz="4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031BD-049F-0B4F-3C3B-AF8EA67F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7DEB268B-75A9-B659-DD80-BC1E2A696C71}"/>
              </a:ext>
            </a:extLst>
          </p:cNvPr>
          <p:cNvSpPr/>
          <p:nvPr/>
        </p:nvSpPr>
        <p:spPr>
          <a:xfrm>
            <a:off x="310243" y="2914650"/>
            <a:ext cx="2886075" cy="514350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React</a:t>
            </a:r>
            <a:r>
              <a:rPr lang="ja-JP" altLang="en-US" dirty="0"/>
              <a:t> </a:t>
            </a:r>
            <a:r>
              <a:rPr lang="en-US" altLang="ja-JP" dirty="0"/>
              <a:t>JS (</a:t>
            </a:r>
            <a:r>
              <a:rPr lang="ja-JP" altLang="en-US" dirty="0"/>
              <a:t>フロントエンド</a:t>
            </a:r>
            <a:r>
              <a:rPr lang="en-US" altLang="ja-JP" dirty="0"/>
              <a:t>)</a:t>
            </a:r>
            <a:endParaRPr lang="en-US" dirty="0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FB14C049-E03D-721F-7B48-FFB1D56879E8}"/>
              </a:ext>
            </a:extLst>
          </p:cNvPr>
          <p:cNvSpPr/>
          <p:nvPr/>
        </p:nvSpPr>
        <p:spPr>
          <a:xfrm>
            <a:off x="4206425" y="2914650"/>
            <a:ext cx="4006847" cy="514350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Python’s flask server(</a:t>
            </a:r>
            <a:r>
              <a:rPr lang="ja-JP" altLang="en-US" dirty="0"/>
              <a:t>バックエンド</a:t>
            </a:r>
            <a:r>
              <a:rPr lang="en-US" dirty="0"/>
              <a:t>)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81A350BB-A277-EE1F-2349-544E33827B9F}"/>
              </a:ext>
            </a:extLst>
          </p:cNvPr>
          <p:cNvSpPr/>
          <p:nvPr/>
        </p:nvSpPr>
        <p:spPr>
          <a:xfrm>
            <a:off x="2649309" y="4255294"/>
            <a:ext cx="4641398" cy="957602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Wikimedia’s On this day API</a:t>
            </a:r>
          </a:p>
          <a:p>
            <a:pPr algn="ctr"/>
            <a:r>
              <a:rPr lang="en-US" dirty="0">
                <a:hlinkClick r:id="rId2"/>
              </a:rPr>
              <a:t>https://api.wikimedia.org/wiki/API_reference/Feed/On_this_day</a:t>
            </a:r>
            <a:r>
              <a:rPr lang="en-US" dirty="0"/>
              <a:t>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AA9BE5-6362-D905-0CFB-04C7EA84EEB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4970008" y="3429000"/>
            <a:ext cx="1239841" cy="8262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D7A3959-DD1C-986D-6646-D24957935230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3196318" y="3171825"/>
            <a:ext cx="1010107" cy="0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73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52A4-BEB9-20D0-1B19-58E3819F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830" y="2703739"/>
            <a:ext cx="7965620" cy="1909763"/>
          </a:xfrm>
        </p:spPr>
        <p:txBody>
          <a:bodyPr anchor="ctr">
            <a:normAutofit/>
          </a:bodyPr>
          <a:lstStyle/>
          <a:p>
            <a:r>
              <a:rPr lang="en-US" altLang="ja-JP" sz="5400" dirty="0">
                <a:latin typeface="HGS明朝B" panose="02020800000000000000" pitchFamily="18" charset="-128"/>
                <a:ea typeface="HGS明朝B" panose="02020800000000000000" pitchFamily="18" charset="-128"/>
              </a:rPr>
              <a:t>API</a:t>
            </a:r>
            <a:r>
              <a:rPr lang="ja-JP" altLang="en-US" sz="5400" dirty="0">
                <a:latin typeface="HGS明朝B" panose="02020800000000000000" pitchFamily="18" charset="-128"/>
                <a:ea typeface="HGS明朝B" panose="02020800000000000000" pitchFamily="18" charset="-128"/>
              </a:rPr>
              <a:t>とのやりとりと処理</a:t>
            </a:r>
            <a:endParaRPr lang="en-US" sz="5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2D516-FC07-9C96-6F21-54F42034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9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2ED804-BF5E-0D8D-E674-D0B80C92F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21" y="945661"/>
            <a:ext cx="4714422" cy="58551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E91CEA-E903-6387-2EF2-020E2478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621" y="204107"/>
            <a:ext cx="5111750" cy="741554"/>
          </a:xfrm>
        </p:spPr>
        <p:txBody>
          <a:bodyPr anchor="t">
            <a:normAutofit/>
          </a:bodyPr>
          <a:lstStyle/>
          <a:p>
            <a:r>
              <a:rPr lang="en-US" altLang="ja-JP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API</a:t>
            </a:r>
            <a:r>
              <a:rPr lang="ja-JP" altLang="en-US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とのやり取り</a:t>
            </a:r>
            <a:endParaRPr lang="en-US" sz="4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EA518-D843-8115-172E-61B0BCFF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328B9-DE8C-E83C-315D-4AED6BCC8846}"/>
              </a:ext>
            </a:extLst>
          </p:cNvPr>
          <p:cNvSpPr txBox="1"/>
          <p:nvPr/>
        </p:nvSpPr>
        <p:spPr>
          <a:xfrm>
            <a:off x="7339012" y="6348514"/>
            <a:ext cx="424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ソースコード：</a:t>
            </a:r>
            <a:r>
              <a:rPr lang="en-US" altLang="ja-JP" dirty="0"/>
              <a:t>./api/on_this_day.py</a:t>
            </a:r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92BC77CF-6877-2334-7B0F-01BE73C2770B}"/>
              </a:ext>
            </a:extLst>
          </p:cNvPr>
          <p:cNvSpPr/>
          <p:nvPr/>
        </p:nvSpPr>
        <p:spPr>
          <a:xfrm>
            <a:off x="6355214" y="1268369"/>
            <a:ext cx="4870679" cy="1940195"/>
          </a:xfrm>
          <a:prstGeom prst="wedgeRectCallout">
            <a:avLst>
              <a:gd name="adj1" fmla="val -64344"/>
              <a:gd name="adj2" fmla="val -8615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最初にオブジェクトを作成する時に与えられた日付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getData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のメソッドで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API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に送る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return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されたデータを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self.response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の変数に保存する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日付のフォーマットは 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MM/DD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031CD-B853-2B49-115A-0800CAD0B403}"/>
              </a:ext>
            </a:extLst>
          </p:cNvPr>
          <p:cNvSpPr/>
          <p:nvPr/>
        </p:nvSpPr>
        <p:spPr>
          <a:xfrm>
            <a:off x="966107" y="1167492"/>
            <a:ext cx="4503964" cy="1583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2B911A-A847-52A1-595D-7447C7B5F433}"/>
              </a:ext>
            </a:extLst>
          </p:cNvPr>
          <p:cNvSpPr/>
          <p:nvPr/>
        </p:nvSpPr>
        <p:spPr>
          <a:xfrm>
            <a:off x="966107" y="2772231"/>
            <a:ext cx="4503964" cy="3949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65CFED8F-C3FC-C3CE-A1D1-2049107C3E6F}"/>
              </a:ext>
            </a:extLst>
          </p:cNvPr>
          <p:cNvSpPr/>
          <p:nvPr/>
        </p:nvSpPr>
        <p:spPr>
          <a:xfrm>
            <a:off x="6355213" y="3371850"/>
            <a:ext cx="4870679" cy="2490107"/>
          </a:xfrm>
          <a:prstGeom prst="wedgeRectCallout">
            <a:avLst>
              <a:gd name="adj1" fmla="val -65420"/>
              <a:gd name="adj2" fmla="val 11164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API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のデータでは４つの分野に分かれる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Births, Deaths, Events, Holidays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データ自体は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json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の形式で書かれている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self.response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のデータを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births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のキーワードでフィルターする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各必要な要素をキーワードと年にフィルターして、１つ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tuple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に保存する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必要がある時に繰り返し処理で出す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573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52A4-BEB9-20D0-1B19-58E3819F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830" y="2703739"/>
            <a:ext cx="7965620" cy="1909763"/>
          </a:xfrm>
        </p:spPr>
        <p:txBody>
          <a:bodyPr anchor="ctr">
            <a:normAutofit/>
          </a:bodyPr>
          <a:lstStyle/>
          <a:p>
            <a:r>
              <a:rPr lang="ja-JP" altLang="en-US" sz="5400" dirty="0">
                <a:latin typeface="HGS明朝B" panose="02020800000000000000" pitchFamily="18" charset="-128"/>
                <a:ea typeface="HGS明朝B" panose="02020800000000000000" pitchFamily="18" charset="-128"/>
              </a:rPr>
              <a:t>検索歴の保存</a:t>
            </a:r>
            <a:endParaRPr lang="en-US" sz="5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2D516-FC07-9C96-6F21-54F42034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307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95796F-1DC9-098A-7B27-3854A63EB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67" y="1115675"/>
            <a:ext cx="5385502" cy="5140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E91CEA-E903-6387-2EF2-020E2478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621" y="204107"/>
            <a:ext cx="5111750" cy="741554"/>
          </a:xfrm>
        </p:spPr>
        <p:txBody>
          <a:bodyPr anchor="t">
            <a:normAutofit/>
          </a:bodyPr>
          <a:lstStyle/>
          <a:p>
            <a:r>
              <a:rPr lang="ja-JP" altLang="en-US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検索歴の保存</a:t>
            </a:r>
            <a:endParaRPr lang="en-US" sz="4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EA518-D843-8115-172E-61B0BCFF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328B9-DE8C-E83C-315D-4AED6BCC8846}"/>
              </a:ext>
            </a:extLst>
          </p:cNvPr>
          <p:cNvSpPr txBox="1"/>
          <p:nvPr/>
        </p:nvSpPr>
        <p:spPr>
          <a:xfrm>
            <a:off x="7339012" y="6348514"/>
            <a:ext cx="424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ソースコード：</a:t>
            </a:r>
            <a:r>
              <a:rPr lang="en-US" altLang="ja-JP" dirty="0"/>
              <a:t>./api/on_this_day.py</a:t>
            </a:r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92BC77CF-6877-2334-7B0F-01BE73C2770B}"/>
              </a:ext>
            </a:extLst>
          </p:cNvPr>
          <p:cNvSpPr/>
          <p:nvPr/>
        </p:nvSpPr>
        <p:spPr>
          <a:xfrm>
            <a:off x="6355212" y="996044"/>
            <a:ext cx="4870679" cy="1191986"/>
          </a:xfrm>
          <a:prstGeom prst="wedgeRectCallout">
            <a:avLst>
              <a:gd name="adj1" fmla="val -63339"/>
              <a:gd name="adj2" fmla="val -146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クラス 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on_this_day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の中のメソッドである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検索されたデータを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json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ファイルで書き出す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65CFED8F-C3FC-C3CE-A1D1-2049107C3E6F}"/>
              </a:ext>
            </a:extLst>
          </p:cNvPr>
          <p:cNvSpPr/>
          <p:nvPr/>
        </p:nvSpPr>
        <p:spPr>
          <a:xfrm>
            <a:off x="6483121" y="3586554"/>
            <a:ext cx="4870679" cy="1744725"/>
          </a:xfrm>
          <a:prstGeom prst="wedgeRectCallout">
            <a:avLst>
              <a:gd name="adj1" fmla="val -69275"/>
              <a:gd name="adj2" fmla="val 13985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各分野でデータがあるかを判断する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データがある場合、リストにあり事のタイトルと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url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dictionary(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辞書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に書き込む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処理が完了すると、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./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dbs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/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のところに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data.json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json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ファイルを保存する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27D8FB-9579-98C3-35AC-36CFEF87B7AC}"/>
              </a:ext>
            </a:extLst>
          </p:cNvPr>
          <p:cNvSpPr/>
          <p:nvPr/>
        </p:nvSpPr>
        <p:spPr>
          <a:xfrm>
            <a:off x="457199" y="2098221"/>
            <a:ext cx="5012871" cy="4073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39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6EA0A8-61DE-2C9D-65E9-21D48DA44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06" y="1257300"/>
            <a:ext cx="6239979" cy="434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E91CEA-E903-6387-2EF2-020E2478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621" y="204107"/>
            <a:ext cx="5111750" cy="741554"/>
          </a:xfrm>
        </p:spPr>
        <p:txBody>
          <a:bodyPr anchor="t">
            <a:normAutofit/>
          </a:bodyPr>
          <a:lstStyle/>
          <a:p>
            <a:r>
              <a:rPr lang="ja-JP" altLang="en-US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検索歴の保存</a:t>
            </a:r>
            <a:endParaRPr lang="en-US" sz="4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EA518-D843-8115-172E-61B0BCFF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328B9-DE8C-E83C-315D-4AED6BCC8846}"/>
              </a:ext>
            </a:extLst>
          </p:cNvPr>
          <p:cNvSpPr txBox="1"/>
          <p:nvPr/>
        </p:nvSpPr>
        <p:spPr>
          <a:xfrm>
            <a:off x="7339012" y="6348514"/>
            <a:ext cx="424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ソースコード：</a:t>
            </a:r>
            <a:r>
              <a:rPr lang="en-US" altLang="ja-JP" dirty="0"/>
              <a:t>./dbs/history.py</a:t>
            </a:r>
            <a:endParaRPr lang="en-US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92BC77CF-6877-2334-7B0F-01BE73C2770B}"/>
              </a:ext>
            </a:extLst>
          </p:cNvPr>
          <p:cNvSpPr/>
          <p:nvPr/>
        </p:nvSpPr>
        <p:spPr>
          <a:xfrm>
            <a:off x="5783712" y="1366903"/>
            <a:ext cx="4870679" cy="1191986"/>
          </a:xfrm>
          <a:prstGeom prst="wedgeRectCallout">
            <a:avLst>
              <a:gd name="adj1" fmla="val -76246"/>
              <a:gd name="adj2" fmla="val 62923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書き出した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json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ファイルを読み込んで、同じダイレクトリーにある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sqlite3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のデータベースに書き込む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65CFED8F-C3FC-C3CE-A1D1-2049107C3E6F}"/>
              </a:ext>
            </a:extLst>
          </p:cNvPr>
          <p:cNvSpPr/>
          <p:nvPr/>
        </p:nvSpPr>
        <p:spPr>
          <a:xfrm>
            <a:off x="6483121" y="4217617"/>
            <a:ext cx="4870679" cy="1354343"/>
          </a:xfrm>
          <a:prstGeom prst="wedgeRectCallout">
            <a:avLst>
              <a:gd name="adj1" fmla="val -67096"/>
              <a:gd name="adj2" fmla="val 13985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関数を呼ぶ時にデータベースのすべてのデータを読み込んで、一つの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json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ファイルで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return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する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27D8FB-9579-98C3-35AC-36CFEF87B7AC}"/>
              </a:ext>
            </a:extLst>
          </p:cNvPr>
          <p:cNvSpPr/>
          <p:nvPr/>
        </p:nvSpPr>
        <p:spPr>
          <a:xfrm>
            <a:off x="595992" y="2326821"/>
            <a:ext cx="3486151" cy="11674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F9CBE3-B1FD-662D-D9E5-DE9D8447B022}"/>
              </a:ext>
            </a:extLst>
          </p:cNvPr>
          <p:cNvSpPr/>
          <p:nvPr/>
        </p:nvSpPr>
        <p:spPr>
          <a:xfrm>
            <a:off x="595991" y="3494315"/>
            <a:ext cx="3486151" cy="669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88E5097-0172-95DA-8EDF-B9E88CA10D14}"/>
              </a:ext>
            </a:extLst>
          </p:cNvPr>
          <p:cNvSpPr/>
          <p:nvPr/>
        </p:nvSpPr>
        <p:spPr>
          <a:xfrm>
            <a:off x="5783712" y="2773758"/>
            <a:ext cx="4870679" cy="791935"/>
          </a:xfrm>
          <a:prstGeom prst="wedgeRectCallout">
            <a:avLst>
              <a:gd name="adj1" fmla="val -79264"/>
              <a:gd name="adj2" fmla="val 75351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関数を呼ぶ時にデータベースにあるすべてのデータを削除する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137632-3356-EEE8-AF9B-D3EB0E3E7DAF}"/>
              </a:ext>
            </a:extLst>
          </p:cNvPr>
          <p:cNvSpPr/>
          <p:nvPr/>
        </p:nvSpPr>
        <p:spPr>
          <a:xfrm>
            <a:off x="595990" y="4254193"/>
            <a:ext cx="4870679" cy="12811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52A4-BEB9-20D0-1B19-58E3819F4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ja-JP" sz="5400" dirty="0">
                <a:latin typeface="HGS明朝B" panose="02020800000000000000" pitchFamily="18" charset="-128"/>
                <a:ea typeface="HGS明朝B" panose="02020800000000000000" pitchFamily="18" charset="-128"/>
              </a:rPr>
              <a:t>GUI</a:t>
            </a:r>
            <a:r>
              <a:rPr lang="ja-JP" altLang="en-US" sz="5400" dirty="0">
                <a:latin typeface="HGS明朝B" panose="02020800000000000000" pitchFamily="18" charset="-128"/>
                <a:ea typeface="HGS明朝B" panose="02020800000000000000" pitchFamily="18" charset="-128"/>
              </a:rPr>
              <a:t>の作成</a:t>
            </a:r>
            <a:endParaRPr lang="en-US" sz="5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2D516-FC07-9C96-6F21-54F42034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504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A7DB-7472-3E61-50CA-8C5E5A8A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285750"/>
            <a:ext cx="8353426" cy="1204912"/>
          </a:xfrm>
        </p:spPr>
        <p:txBody>
          <a:bodyPr anchor="ctr">
            <a:normAutofit fontScale="90000"/>
          </a:bodyPr>
          <a:lstStyle/>
          <a:p>
            <a:r>
              <a:rPr lang="en-US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Python</a:t>
            </a:r>
            <a:r>
              <a:rPr lang="ja-JP" altLang="en-US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の</a:t>
            </a:r>
            <a:r>
              <a:rPr lang="en-US" altLang="ja-JP" sz="4400" cap="none" dirty="0" err="1">
                <a:latin typeface="HGS明朝B" panose="02020800000000000000" pitchFamily="18" charset="-128"/>
                <a:ea typeface="HGS明朝B" panose="02020800000000000000" pitchFamily="18" charset="-128"/>
              </a:rPr>
              <a:t>tkinter</a:t>
            </a:r>
            <a:r>
              <a:rPr lang="ja-JP" altLang="en-US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モジュールで作成</a:t>
            </a:r>
            <a:endParaRPr lang="en-US" sz="4400" cap="none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F0F3-DB02-004A-256A-395AD5CF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3711B-AF83-4DF9-100C-9577FCCB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921" y="1274360"/>
            <a:ext cx="4100386" cy="52904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1C36D3-D9A8-1C95-E743-718818622C9D}"/>
              </a:ext>
            </a:extLst>
          </p:cNvPr>
          <p:cNvSpPr txBox="1"/>
          <p:nvPr/>
        </p:nvSpPr>
        <p:spPr>
          <a:xfrm>
            <a:off x="7339012" y="6348514"/>
            <a:ext cx="424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ソースコード：</a:t>
            </a:r>
            <a:r>
              <a:rPr lang="en-US" altLang="ja-JP" dirty="0"/>
              <a:t>./main.py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3C52BE-786D-6A80-9A9D-F836CFB95579}"/>
              </a:ext>
            </a:extLst>
          </p:cNvPr>
          <p:cNvSpPr/>
          <p:nvPr/>
        </p:nvSpPr>
        <p:spPr>
          <a:xfrm>
            <a:off x="3143250" y="1490662"/>
            <a:ext cx="2817972" cy="114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78894340-EA52-D61B-9900-3128B7019912}"/>
              </a:ext>
            </a:extLst>
          </p:cNvPr>
          <p:cNvSpPr/>
          <p:nvPr/>
        </p:nvSpPr>
        <p:spPr>
          <a:xfrm>
            <a:off x="112740" y="1643742"/>
            <a:ext cx="2851200" cy="1295401"/>
          </a:xfrm>
          <a:prstGeom prst="wedgeRectCallout">
            <a:avLst>
              <a:gd name="adj1" fmla="val 58432"/>
              <a:gd name="adj2" fmla="val -21725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現在の日付を表示する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右の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OK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ボタンを押すと記入した日付に変わる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CFC977-AD33-33FA-AF2C-8A54B7B1CA51}"/>
              </a:ext>
            </a:extLst>
          </p:cNvPr>
          <p:cNvSpPr/>
          <p:nvPr/>
        </p:nvSpPr>
        <p:spPr>
          <a:xfrm>
            <a:off x="5961222" y="1487033"/>
            <a:ext cx="1068228" cy="1146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E401A7CC-07D8-0075-7DE1-BBE263E0D928}"/>
              </a:ext>
            </a:extLst>
          </p:cNvPr>
          <p:cNvSpPr/>
          <p:nvPr/>
        </p:nvSpPr>
        <p:spPr>
          <a:xfrm>
            <a:off x="7839629" y="1410616"/>
            <a:ext cx="2851200" cy="2018383"/>
          </a:xfrm>
          <a:prstGeom prst="wedgeRectCallout">
            <a:avLst>
              <a:gd name="adj1" fmla="val -74719"/>
              <a:gd name="adj2" fmla="val -12929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日付が記入できる欄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OK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ボタンの機能は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API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に送る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Quit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ボタンはアプリを閉じる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History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ボタンは検索歴を見る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AE5DBF49-906C-1BDC-FAD5-7E3E49385CE2}"/>
              </a:ext>
            </a:extLst>
          </p:cNvPr>
          <p:cNvSpPr/>
          <p:nvPr/>
        </p:nvSpPr>
        <p:spPr>
          <a:xfrm>
            <a:off x="7839629" y="3888427"/>
            <a:ext cx="2851200" cy="1043499"/>
          </a:xfrm>
          <a:prstGeom prst="wedgeRectCallout">
            <a:avLst>
              <a:gd name="adj1" fmla="val -70710"/>
              <a:gd name="adj2" fmla="val -8878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API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からのデータをそれぞれの分野にインサートする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3071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60058-A5D6-D544-3C04-7C626B798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304" y="2159454"/>
            <a:ext cx="5111750" cy="253909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dirty="0" err="1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tkinter</a:t>
            </a: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を使用する欠点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自由性が低い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複雑なレイアウトができない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Python</a:t>
            </a: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の実行速度が遅いから、日付をカウントダウンのイフェクトが出来なかった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JavaScript</a:t>
            </a: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の</a:t>
            </a: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React</a:t>
            </a: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のフレームワークに変わった</a:t>
            </a: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F0F3-DB02-004A-256A-395AD5CF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A9637A-2118-68A5-D3B1-72BF76E38EDD}"/>
              </a:ext>
            </a:extLst>
          </p:cNvPr>
          <p:cNvSpPr txBox="1">
            <a:spLocks/>
          </p:cNvSpPr>
          <p:nvPr/>
        </p:nvSpPr>
        <p:spPr>
          <a:xfrm>
            <a:off x="504824" y="574903"/>
            <a:ext cx="8353426" cy="1204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Python</a:t>
            </a:r>
            <a:r>
              <a:rPr lang="ja-JP" altLang="en-US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の</a:t>
            </a:r>
            <a:r>
              <a:rPr lang="en-US" altLang="ja-JP" sz="4400" cap="none" dirty="0" err="1">
                <a:latin typeface="HGS明朝B" panose="02020800000000000000" pitchFamily="18" charset="-128"/>
                <a:ea typeface="HGS明朝B" panose="02020800000000000000" pitchFamily="18" charset="-128"/>
              </a:rPr>
              <a:t>tkinter</a:t>
            </a:r>
            <a:r>
              <a:rPr lang="ja-JP" altLang="en-US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モジュールで作成</a:t>
            </a:r>
          </a:p>
        </p:txBody>
      </p:sp>
    </p:spTree>
    <p:extLst>
      <p:ext uri="{BB962C8B-B14F-4D97-AF65-F5344CB8AC3E}">
        <p14:creationId xmlns:p14="http://schemas.microsoft.com/office/powerpoint/2010/main" val="2540357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A7DB-7472-3E61-50CA-8C5E5A8A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285750"/>
            <a:ext cx="8353426" cy="1204912"/>
          </a:xfrm>
        </p:spPr>
        <p:txBody>
          <a:bodyPr anchor="ctr">
            <a:normAutofit/>
          </a:bodyPr>
          <a:lstStyle/>
          <a:p>
            <a:r>
              <a:rPr lang="en-US" altLang="ja-JP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React</a:t>
            </a:r>
            <a:r>
              <a:rPr lang="ja-JP" altLang="en-US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でウェブアプリの作成</a:t>
            </a:r>
            <a:endParaRPr lang="en-US" sz="4400" cap="none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F0F3-DB02-004A-256A-395AD5CF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D4B43-2FAA-F5C5-9113-79D9D044F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4" y="1480344"/>
            <a:ext cx="5111750" cy="120491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React</a:t>
            </a: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の実行はリアルタイムから、カウントダウンのイフェクトができるようになった</a:t>
            </a:r>
            <a:endParaRPr lang="en-US" altLang="ja-JP" sz="18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全体的なレイアウトもきれいになった</a:t>
            </a:r>
            <a:endParaRPr lang="en-US" altLang="ja-JP" sz="18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8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B432D-2F5D-9A36-AA48-B59843DD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15" y="2685255"/>
            <a:ext cx="7701643" cy="414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29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A7DB-7472-3E61-50CA-8C5E5A8A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4" y="285750"/>
            <a:ext cx="8353426" cy="1204912"/>
          </a:xfrm>
        </p:spPr>
        <p:txBody>
          <a:bodyPr anchor="ctr">
            <a:normAutofit/>
          </a:bodyPr>
          <a:lstStyle/>
          <a:p>
            <a:r>
              <a:rPr lang="en-US" altLang="ja-JP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React</a:t>
            </a:r>
            <a:r>
              <a:rPr lang="ja-JP" altLang="en-US" sz="4400" cap="none" dirty="0">
                <a:latin typeface="HGS明朝B" panose="02020800000000000000" pitchFamily="18" charset="-128"/>
                <a:ea typeface="HGS明朝B" panose="02020800000000000000" pitchFamily="18" charset="-128"/>
              </a:rPr>
              <a:t>でウェブアプリの作成</a:t>
            </a:r>
            <a:endParaRPr lang="en-US" sz="4400" cap="none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F0F3-DB02-004A-256A-395AD5CF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3FA3F6F-776A-9062-535C-2592E5647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0139" y="1490662"/>
            <a:ext cx="5111750" cy="1513795"/>
          </a:xfrm>
        </p:spPr>
        <p:txBody>
          <a:bodyPr>
            <a:normAutofit/>
          </a:bodyPr>
          <a:lstStyle/>
          <a:p>
            <a:r>
              <a:rPr lang="ja-JP" altLang="en-US" sz="24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しかし、</a:t>
            </a:r>
            <a:endParaRPr lang="en-US" altLang="ja-JP" sz="2400" dirty="0">
              <a:solidFill>
                <a:schemeClr val="tx1"/>
              </a:solidFill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React</a:t>
            </a: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はフロントエンドだからデータの処理ができないので、</a:t>
            </a: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python</a:t>
            </a: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で</a:t>
            </a:r>
            <a:r>
              <a:rPr lang="en-US" altLang="ja-JP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flask</a:t>
            </a:r>
            <a:r>
              <a:rPr lang="ja-JP" altLang="en-US" sz="1800" dirty="0">
                <a:solidFill>
                  <a:schemeClr val="tx1"/>
                </a:solidFill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のサーバーを</a:t>
            </a:r>
            <a:r>
              <a:rPr lang="ja-JP" altLang="en-US" sz="1800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バックエンドが必要になった</a:t>
            </a:r>
            <a:endParaRPr lang="en-US" altLang="ja-JP" sz="1800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B64DA0-F44A-FFED-B90C-CC547E60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74" y="1530006"/>
            <a:ext cx="4181200" cy="4756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B5A7A1-C3A7-01C9-733F-C39086302612}"/>
              </a:ext>
            </a:extLst>
          </p:cNvPr>
          <p:cNvSpPr txBox="1"/>
          <p:nvPr/>
        </p:nvSpPr>
        <p:spPr>
          <a:xfrm>
            <a:off x="7339012" y="6348514"/>
            <a:ext cx="424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ソースコード：</a:t>
            </a:r>
            <a:r>
              <a:rPr lang="en-US" altLang="ja-JP" dirty="0"/>
              <a:t>./backend.py</a:t>
            </a:r>
            <a:endParaRPr lang="en-US" dirty="0"/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24D186B5-6CD1-B285-A368-8688366C6843}"/>
              </a:ext>
            </a:extLst>
          </p:cNvPr>
          <p:cNvSpPr/>
          <p:nvPr/>
        </p:nvSpPr>
        <p:spPr>
          <a:xfrm>
            <a:off x="974448" y="3244097"/>
            <a:ext cx="4870679" cy="984674"/>
          </a:xfrm>
          <a:prstGeom prst="wedgeRectCallout">
            <a:avLst>
              <a:gd name="adj1" fmla="val 62378"/>
              <a:gd name="adj2" fmla="val -34284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サーバーのメインのルートである</a:t>
            </a:r>
            <a:endParaRPr lang="en-US" altLang="ja-JP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React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での日付を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Wikipedia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API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に送って、データを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return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するルート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941FAA-8318-EF69-9CA0-C1B961E2922B}"/>
              </a:ext>
            </a:extLst>
          </p:cNvPr>
          <p:cNvSpPr/>
          <p:nvPr/>
        </p:nvSpPr>
        <p:spPr>
          <a:xfrm>
            <a:off x="6689095" y="2772231"/>
            <a:ext cx="2561041" cy="14487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B51266-F1B5-F2B9-A3DF-91CA0112605C}"/>
              </a:ext>
            </a:extLst>
          </p:cNvPr>
          <p:cNvSpPr/>
          <p:nvPr/>
        </p:nvSpPr>
        <p:spPr>
          <a:xfrm>
            <a:off x="6689095" y="4228771"/>
            <a:ext cx="2561041" cy="1358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4FA8C5E9-21BE-8285-A986-51BDBF8AD4D0}"/>
              </a:ext>
            </a:extLst>
          </p:cNvPr>
          <p:cNvSpPr/>
          <p:nvPr/>
        </p:nvSpPr>
        <p:spPr>
          <a:xfrm>
            <a:off x="974448" y="4754244"/>
            <a:ext cx="4870679" cy="832756"/>
          </a:xfrm>
          <a:prstGeom prst="wedgeRectCallout">
            <a:avLst>
              <a:gd name="adj1" fmla="val 64654"/>
              <a:gd name="adj2" fmla="val -4385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検索歴のデータベースの更新や削除に動作する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/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dbs_show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と</a:t>
            </a:r>
            <a:r>
              <a:rPr lang="en-US" altLang="ja-JP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/</a:t>
            </a:r>
            <a:r>
              <a:rPr lang="en-US" altLang="ja-JP" dirty="0" err="1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dbs_clear</a:t>
            </a:r>
            <a:r>
              <a:rPr lang="ja-JP" altLang="en-US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のルート</a:t>
            </a:r>
            <a:endParaRPr lang="en-US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7167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3453-D7FC-65E6-F440-9107036A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400" dirty="0">
                <a:latin typeface="HGS明朝B" panose="02020800000000000000" pitchFamily="18" charset="-128"/>
                <a:ea typeface="HGS明朝B" panose="02020800000000000000" pitchFamily="18" charset="-128"/>
              </a:rPr>
              <a:t>最後に</a:t>
            </a:r>
            <a:endParaRPr lang="en-US" sz="44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283F5-5C94-7497-26EF-5DF606ADE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218655"/>
            <a:ext cx="5111750" cy="236571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HGS明朝B" panose="02020800000000000000" pitchFamily="18" charset="-128"/>
                <a:ea typeface="HGS明朝B" panose="02020800000000000000" pitchFamily="18" charset="-128"/>
              </a:rPr>
              <a:t>React</a:t>
            </a:r>
            <a:r>
              <a:rPr lang="ja-JP" altLang="en-US" sz="1800" dirty="0">
                <a:latin typeface="HGS明朝B" panose="02020800000000000000" pitchFamily="18" charset="-128"/>
                <a:ea typeface="HGS明朝B" panose="02020800000000000000" pitchFamily="18" charset="-128"/>
              </a:rPr>
              <a:t>では初心者だから、色々なコードのリファクタリングができなかった</a:t>
            </a:r>
            <a:endParaRPr lang="en-US" altLang="ja-JP" sz="18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latin typeface="HGS明朝B" panose="02020800000000000000" pitchFamily="18" charset="-128"/>
                <a:ea typeface="HGS明朝B" panose="02020800000000000000" pitchFamily="18" charset="-128"/>
              </a:rPr>
              <a:t>おかしいバッグが発生した</a:t>
            </a:r>
            <a:endParaRPr lang="en-US" altLang="ja-JP" sz="1800" dirty="0"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React</a:t>
            </a:r>
            <a:r>
              <a:rPr lang="ja-JP" altLang="en-US" sz="1800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の日付欄は時々もう１つの桁が現れる</a:t>
            </a:r>
            <a:endParaRPr lang="en-US" altLang="ja-JP" sz="1800" dirty="0">
              <a:solidFill>
                <a:schemeClr val="tx1"/>
              </a:solidFill>
              <a:latin typeface="HGS明朝B" panose="02020800000000000000" pitchFamily="18" charset="-128"/>
              <a:ea typeface="HGS明朝B" panose="02020800000000000000" pitchFamily="18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sz="1800" dirty="0">
                <a:solidFill>
                  <a:schemeClr val="tx1"/>
                </a:solidFill>
                <a:latin typeface="HGS明朝B" panose="02020800000000000000" pitchFamily="18" charset="-128"/>
                <a:ea typeface="HGS明朝B" panose="02020800000000000000" pitchFamily="18" charset="-128"/>
              </a:rPr>
              <a:t>ブラウザのデベロッパーツールにも表示されていない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D1087-17E2-B9CA-0BC2-490806EC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48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_tm67328976_Win32_LW_SL_v3" id="{B5A5B451-F186-4F05-917D-430247B33515}" vid="{C0610F80-F57F-4E6B-A096-3AEBDD5FC5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C43685-694E-4579-B109-3C418D49DA6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{6E327097-6417-4E78-A627-07F8D6B55363}tf67328976_win32</Template>
  <TotalTime>306</TotalTime>
  <Words>739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BIZ UD明朝 Medium</vt:lpstr>
      <vt:lpstr>HGS明朝B</vt:lpstr>
      <vt:lpstr>Arial</vt:lpstr>
      <vt:lpstr>Calibri</vt:lpstr>
      <vt:lpstr>Tenorite</vt:lpstr>
      <vt:lpstr>Office Theme</vt:lpstr>
      <vt:lpstr>Time Machine</vt:lpstr>
      <vt:lpstr>最初のアイデア</vt:lpstr>
      <vt:lpstr>目的</vt:lpstr>
      <vt:lpstr>プログラムの概要</vt:lpstr>
      <vt:lpstr>APIとのやりとりと処理</vt:lpstr>
      <vt:lpstr>APIとのやり取り</vt:lpstr>
      <vt:lpstr>検索歴の保存</vt:lpstr>
      <vt:lpstr>検索歴の保存</vt:lpstr>
      <vt:lpstr>検索歴の保存</vt:lpstr>
      <vt:lpstr>GUIの作成</vt:lpstr>
      <vt:lpstr>Pythonのtkinterモジュールで作成</vt:lpstr>
      <vt:lpstr>PowerPoint Presentation</vt:lpstr>
      <vt:lpstr>Reactでウェブアプリの作成</vt:lpstr>
      <vt:lpstr>Reactでウェブアプリの作成</vt:lpstr>
      <vt:lpstr>最後に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SD Teoh</dc:creator>
  <cp:lastModifiedBy>SD Teoh</cp:lastModifiedBy>
  <cp:revision>93</cp:revision>
  <dcterms:created xsi:type="dcterms:W3CDTF">2022-11-29T13:59:39Z</dcterms:created>
  <dcterms:modified xsi:type="dcterms:W3CDTF">2023-01-24T07:48:47Z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